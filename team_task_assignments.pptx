
<file path=[Content_Types].xml><?xml version="1.0" encoding="utf-8"?>
<Types xmlns="http://schemas.openxmlformats.org/package/2006/content-types">
  <Default Extension="xml" ContentType="application/vnd.openxmlformats-officedocument.presentationml.presentation.main+xml"/>
  <Default Extension="rels" ContentType="application/vnd.openxmlformats-package.relationships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notesMasters/notesMaster1.xml" ContentType="application/vnd.openxmlformats-officedocument.presentationml.notesMaster+xml"/>
  <Override PartName="/ppt/notesMasters/theme/theme2.xml" ContentType="application/vnd.openxmlformats-officedocument.them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officeDocument/2006/relationships/officeDocument" Target="/ppt/presentation.xml" Id="R6bfba34e158d47f1" /><Relationship Type="http://schemas.openxmlformats.org/package/2006/relationships/metadata/core-properties" Target="/docProps/core.xml" Id="R32c008abefd64a0d" /><Relationship Type="http://schemas.openxmlformats.org/officeDocument/2006/relationships/extended-properties" Target="/docProps/app.xml" Id="R825bd5288b5046bd" /><Relationship Type="http://schemas.openxmlformats.org/officeDocument/2006/relationships/custom-properties" Target="/docProps/custom.xml" Id="R974ddad8880449eb" /></Relationships>
</file>

<file path=ppt/presentation.xml><?xml version="1.0" encoding="utf-8"?>
<p:presentation xmlns:r="http://schemas.openxmlformats.org/officeDocument/2006/relationships" xmlns:p="http://schemas.openxmlformats.org/presentationml/2006/main">
  <p:sldMasterIdLst>
    <p:sldMasterId xmlns:r="http://schemas.openxmlformats.org/officeDocument/2006/relationships" id="2147483648" r:id="rId1"/>
  </p:sldMasterIdLst>
  <p:notesMasterIdLst>
    <p:notesMasterId r:id="Rebc08a8377dc496b"/>
  </p:notesMasterIdLst>
  <p:sldIdLst>
    <p:sldId id="256" r:id="R5d9a64d650a94f61"/>
    <p:sldId id="257" r:id="R643f6c2ad1854a55"/>
    <p:sldId id="258" r:id="R824afdbf74a84616"/>
    <p:sldId id="259" r:id="R94db52c4bed44ae7"/>
    <p:sldId id="260" r:id="R52be18f0fcd24059"/>
    <p:sldId id="261" r:id="Ra800cb87005e467f"/>
    <p:sldId id="262" r:id="Reef2b750e0554b69"/>
  </p:sldIdLst>
  <p:sldSz cx="12192000" cy="6858000"/>
  <p:notesSz cx="6858000" cy="9144000"/>
</p:presentation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Id1" /><Relationship Type="http://schemas.openxmlformats.org/officeDocument/2006/relationships/theme" Target="/ppt/theme/theme1.xml" Id="rId2" /><Relationship Type="http://schemas.openxmlformats.org/officeDocument/2006/relationships/slide" Target="/ppt/slides/slide1.xml" Id="R5d9a64d650a94f61" /><Relationship Type="http://schemas.openxmlformats.org/officeDocument/2006/relationships/notesMaster" Target="/ppt/notesMasters/notesMaster1.xml" Id="Rebc08a8377dc496b" /><Relationship Type="http://schemas.openxmlformats.org/officeDocument/2006/relationships/slide" Target="/ppt/slides/slide2.xml" Id="R643f6c2ad1854a55" /><Relationship Type="http://schemas.openxmlformats.org/officeDocument/2006/relationships/slide" Target="/ppt/slides/slide3.xml" Id="R824afdbf74a84616" /><Relationship Type="http://schemas.openxmlformats.org/officeDocument/2006/relationships/slide" Target="/ppt/slides/slide4.xml" Id="R94db52c4bed44ae7" /><Relationship Type="http://schemas.openxmlformats.org/officeDocument/2006/relationships/slide" Target="/ppt/slides/slide5.xml" Id="R52be18f0fcd24059" /><Relationship Type="http://schemas.openxmlformats.org/officeDocument/2006/relationships/slide" Target="/ppt/slides/slide6.xml" Id="Ra800cb87005e467f" /><Relationship Type="http://schemas.openxmlformats.org/officeDocument/2006/relationships/slide" Target="/ppt/slides/slide7.xml" Id="Reef2b750e0554b69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2.xml" Id="R7387670ab86b4d33" 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/>
          <a:lstStyle>
            <a:lvl1pPr algn="r">
              <a:defRPr sz="1200"/>
            </a:lvl1pPr>
          </a:lstStyle>
          <a:p>
            <a:fld id="{B1E4B0A2-5C8E-4E5F-9C1D-2F3A4B5C6D71}" type="datetimeFigureOut">
              <a:rPr lang="en-US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25717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3429000"/>
            <a:ext cx="5486400" cy="4114800"/>
          </a:xfrm>
          <a:prstGeom prst="rect">
            <a:avLst/>
          </a:prstGeom>
        </p:spPr>
        <p:txBody>
          <a:bodyPr vert="horz" lIns="91440" tIns="45720" rIns="91440" bIns="45720"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/>
          <a:lstStyle>
            <a:lvl1pPr algn="r">
              <a:defRPr sz="1200"/>
            </a:lvl1pPr>
          </a:lstStyle>
          <a:p>
            <a:fld id="{B1E4B0A2-5C8E-4E5F-9C1D-2F3A4B5C6D72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Masters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>
          <a:solidFill>
            <a:schemeClr val="phClr"/>
          </a:solidFill>
        </a:ln>
        <a:ln w="12700" cap="flat">
          <a:solidFill>
            <a:schemeClr val="phClr"/>
          </a:solidFill>
        </a:ln>
        <a:ln w="19050" cap="flat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notesMaster" Target="/ppt/notesMasters/notesMaster1.xml" Id="R7df9baa68c034b79" /><Relationship Type="http://schemas.openxmlformats.org/officeDocument/2006/relationships/slide" Target="/ppt/slides/slide1.xml" Id="R40a81b10301b4ecb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notesMaster" Target="/ppt/notesMasters/notesMaster1.xml" Id="Ref5d4e2c8a97493d" /><Relationship Type="http://schemas.openxmlformats.org/officeDocument/2006/relationships/slide" Target="/ppt/slides/slide2.xml" Id="R376b094bd63a4385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notesMaster" Target="/ppt/notesMasters/notesMaster1.xml" Id="R2af83109c8144861" /><Relationship Type="http://schemas.openxmlformats.org/officeDocument/2006/relationships/slide" Target="/ppt/slides/slide3.xml" Id="R25c9373c54394a70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notesMaster" Target="/ppt/notesMasters/notesMaster1.xml" Id="R78866c2107c24195" /><Relationship Type="http://schemas.openxmlformats.org/officeDocument/2006/relationships/slide" Target="/ppt/slides/slide4.xml" Id="Rcc9599cb4b2a458d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notesMaster" Target="/ppt/notesMasters/notesMaster1.xml" Id="R785593f278054eb5" /><Relationship Type="http://schemas.openxmlformats.org/officeDocument/2006/relationships/slide" Target="/ppt/slides/slide5.xml" Id="R28eccf757e2d4440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notesMaster" Target="/ppt/notesMasters/notesMaster1.xml" Id="R1d898e582bf44d22" /><Relationship Type="http://schemas.openxmlformats.org/officeDocument/2006/relationships/slide" Target="/ppt/slides/slide6.xml" Id="R002ef700ebdf44ab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notesMaster" Target="/ppt/notesMasters/notesMaster1.xml" Id="Rad638d6c08b94626" /><Relationship Type="http://schemas.openxmlformats.org/officeDocument/2006/relationships/slide" Target="/ppt/slides/slide7.xml" Id="Rc837349904fd45ce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/>
          <p:nvPr>
            <p:ph type="sldImg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Notes Placeholder 2"/>
          <p:cNvSpPr/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>Welcome to the GitHub Playwright automation presentation. This deck outlines the architecture and individual task allocations for all 10 members.</a:t>
            </a:r>
          </a:p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/>
          <p:nvPr>
            <p:ph type="sldImg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Notes Placeholder 2"/>
          <p:cNvSpPr/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>Overview of the technical stack and architectural standards used across all automation modules.</a:t>
            </a:r>
          </a:p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/>
          <p:nvPr>
            <p:ph type="sldImg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Notes Placeholder 2"/>
          <p:cNvSpPr/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>Details on the framework leadership and CI/CD infrastructure tasks.</a:t>
            </a:r>
          </a:p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/>
          <p:nvPr>
            <p:ph type="sldImg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Notes Placeholder 2"/>
          <p:cNvSpPr/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>Covers authentication, user profile management, and repository creation and navigation modules.</a:t>
            </a:r>
          </a:p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/>
          <p:nvPr>
            <p:ph type="sldImg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Notes Placeholder 2"/>
          <p:cNvSpPr/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>Covers Issue tracking, Pull Request workflows, and GitHub Search/Explore capabilities.</a:t>
            </a:r>
          </a:p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/>
          <p:nvPr>
            <p:ph type="sldImg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Notes Placeholder 2"/>
          <p:cNvSpPr/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>Outlines responsibilities for Gists, file/commit viewer, common utilities, and test reporting.</a:t>
            </a:r>
          </a:p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/>
          <p:nvPr>
            <p:ph type="sldImg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Notes Placeholder 2"/>
          <p:cNvSpPr/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>Rules of engagement and collaboration workflow for all team members.</a:t>
            </a:r>
          </a:p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0f087725ada4e6c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6b5c21cfe7642ba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d384a93c0e647ec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a1f8b701d5343ca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6bd77dab46549d8" /></Relationships>
</file>

<file path=ppt/slideLayouts/slideLayout1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/>
    </p:spTree>
  </p:cSld>
</p:sldLayout>
</file>

<file path=ppt/slideLayouts/slideLayout2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/>
      <p:sp>
        <p:nvSpPr>
          <p:cNvPr id="2" name="Title"/>
          <p:cNvSpPr>
            <a:spLocks xmlns:a="http://schemas.openxmlformats.org/drawingml/2006/main" noGrp="1"/>
          </p:cNvSpPr>
          <p:nvPr>
            <p:ph type="ctrTitle"/>
          </p:nvPr>
        </p:nvSpPr>
        <p:spPr>
          <a:xfrm xmlns:a="http://schemas.openxmlformats.org/drawingml/2006/main">
            <a:off x="685800" y="2130425"/>
            <a:ext cx="7772400" cy="1470025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3" name="Subtitle"/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371600" y="3886200"/>
            <a:ext cx="6400800" cy="1752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</p:spTree>
  </p:cSld>
</p:sldLayout>
</file>

<file path=ppt/slideLayouts/slideLayout3.xml><?xml version="1.0" encoding="utf-8"?>
<p:sldLayout xmlns:p="http://schemas.openxmlformats.org/presentationml/2006/main" type="objTx">
  <p:cSld name="Title and Content">
    <p:spTree>
      <p:nvGrpSpPr>
        <p:cNvPr id="1" name=""/>
        <p:cNvGrpSpPr/>
        <p:nvPr/>
      </p:nvGrpSpPr>
      <p:grpSpPr/>
      <p:sp>
        <p:nvSpPr>
          <p:cNvPr id="2" name="Title"/>
          <p:cNvSpPr>
            <a:spLocks xmlns:a="http://schemas.openxmlformats.org/drawingml/2006/main" noGrp="1"/>
          </p:cNvSpPr>
          <p:nvPr>
            <p:ph type="title"/>
          </p:nvPr>
        </p:nvSpPr>
        <p:spPr>
          <a:xfrm xmlns:a="http://schemas.openxmlformats.org/drawingml/2006/main">
            <a:off x="838200" y="365125"/>
            <a:ext cx="10515600" cy="132556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3" name="Content"/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1825625"/>
            <a:ext cx="105156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</p:spTree>
  </p:cSld>
</p:sldLayout>
</file>

<file path=ppt/slideLayouts/slideLayout4.xml><?xml version="1.0" encoding="utf-8"?>
<p:sldLayout xmlns:p="http://schemas.openxmlformats.org/presentationml/2006/main" type="twoColTx">
  <p:cSld name="Two Content">
    <p:spTree>
      <p:nvGrpSpPr>
        <p:cNvPr id="1" name=""/>
        <p:cNvGrpSpPr/>
        <p:nvPr/>
      </p:nvGrpSpPr>
      <p:grpSpPr/>
      <p:sp>
        <p:nvSpPr>
          <p:cNvPr id="2" name="Title"/>
          <p:cNvSpPr>
            <a:spLocks xmlns:a="http://schemas.openxmlformats.org/drawingml/2006/main" noGrp="1"/>
          </p:cNvSpPr>
          <p:nvPr>
            <p:ph type="title"/>
          </p:nvPr>
        </p:nvSpPr>
        <p:spPr>
          <a:xfrm xmlns:a="http://schemas.openxmlformats.org/drawingml/2006/main">
            <a:off x="838200" y="365125"/>
            <a:ext cx="10515600" cy="132556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3" name="Content Left"/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1825625"/>
            <a:ext cx="51816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4" name="Content Right"/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172200" y="1825625"/>
            <a:ext cx="51816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</p:spTree>
  </p:cSld>
</p:sldLayout>
</file>

<file path=ppt/slideLayouts/slideLayout5.xml><?xml version="1.0" encoding="utf-8"?>
<p:sldLayout xmlns:p="http://schemas.openxmlformats.org/presentationml/2006/main" type="titleOnly">
  <p:cSld name="Title Only">
    <p:spTree>
      <p:nvGrpSpPr>
        <p:cNvPr id="1" name=""/>
        <p:cNvGrpSpPr/>
        <p:nvPr/>
      </p:nvGrpSpPr>
      <p:grpSpPr/>
      <p:sp>
        <p:nvSpPr>
          <p:cNvPr id="2" name="Title"/>
          <p:cNvSpPr>
            <a:spLocks xmlns:a="http://schemas.openxmlformats.org/drawingml/2006/main" noGrp="1"/>
          </p:cNvSpPr>
          <p:nvPr>
            <p:ph type="title"/>
          </p:nvPr>
        </p:nvSpPr>
        <p:spPr>
          <a:xfrm xmlns:a="http://schemas.openxmlformats.org/drawingml/2006/main">
            <a:off x="838200" y="365125"/>
            <a:ext cx="10515600" cy="132556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Id1" /><Relationship Type="http://schemas.openxmlformats.org/officeDocument/2006/relationships/theme" Target="/ppt/theme/theme1.xml" Id="R290dd0f7c59a4348" /><Relationship Type="http://schemas.openxmlformats.org/officeDocument/2006/relationships/slideLayout" Target="/ppt/slideLayouts/slideLayout2.xml" Id="rId2" /><Relationship Type="http://schemas.openxmlformats.org/officeDocument/2006/relationships/slideLayout" Target="/ppt/slideLayouts/slideLayout3.xml" Id="rId3" /><Relationship Type="http://schemas.openxmlformats.org/officeDocument/2006/relationships/slideLayout" Target="/ppt/slideLayouts/slideLayout4.xml" Id="rId4" /><Relationship Type="http://schemas.openxmlformats.org/officeDocument/2006/relationships/slideLayout" Target="/ppt/slideLayouts/slideLayout5.xml" Id="rId5" /></Relationships>
</file>

<file path=ppt/slideMasters/slideMaster1.xml><?xml version="1.0" encoding="utf-8"?>
<p:sldMaster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Id1"/>
    <p:sldLayoutId xmlns:r="http://schemas.openxmlformats.org/officeDocument/2006/relationships" id="2147483650" r:id="rId2"/>
    <p:sldLayoutId xmlns:r="http://schemas.openxmlformats.org/officeDocument/2006/relationships" id="2147483651" r:id="rId3"/>
    <p:sldLayoutId xmlns:r="http://schemas.openxmlformats.org/officeDocument/2006/relationships" id="2147483652" r:id="rId4"/>
    <p:sldLayoutId xmlns:r="http://schemas.openxmlformats.org/officeDocument/2006/relationships" id="2147483653" r:id="rId5"/>
  </p:sldLayoutIdLst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b2086d1b8e0416c" /><Relationship Type="http://schemas.openxmlformats.org/officeDocument/2006/relationships/notesSlide" Target="/ppt/notesSlides/notesSlide1.xml" Id="R24d1780099a54b13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e519592366c46dc" /><Relationship Type="http://schemas.openxmlformats.org/officeDocument/2006/relationships/notesSlide" Target="/ppt/notesSlides/notesSlide2.xml" Id="Rd9747a8f603f4568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ec5d514ee084ea4" /><Relationship Type="http://schemas.openxmlformats.org/officeDocument/2006/relationships/notesSlide" Target="/ppt/notesSlides/notesSlide3.xml" Id="R7589a042af0b49aa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610cf4120a641ea" /><Relationship Type="http://schemas.openxmlformats.org/officeDocument/2006/relationships/notesSlide" Target="/ppt/notesSlides/notesSlide4.xml" Id="Rb2dfac11a4d84028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a6f21de0615498e" /><Relationship Type="http://schemas.openxmlformats.org/officeDocument/2006/relationships/notesSlide" Target="/ppt/notesSlides/notesSlide5.xml" Id="R9e1719a4f897402d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5f46a0832ca4bf7" /><Relationship Type="http://schemas.openxmlformats.org/officeDocument/2006/relationships/notesSlide" Target="/ppt/notesSlides/notesSlide6.xml" Id="Rf5b2287e4ebf4d41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0fa5b2a13944ee5" /><Relationship Type="http://schemas.openxmlformats.org/officeDocument/2006/relationships/notesSlide" Target="/ppt/notesSlides/notesSlide7.xml" Id="Ra38dffe6749649dc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F172A"/>
        </a:solidFill>
      </p:bgPr>
    </p:bg>
    <p:spTree>
      <p:nvGrpSpPr>
        <p:cNvPr id="1" name=""/>
        <p:cNvGrpSpPr/>
        <p:nvPr/>
      </p:nvGrpSpPr>
      <p:grpSpPr/>
      <p:sp>
        <p:nvSpPr>
          <p:cNvPr id="100000" name="DeckTitle"/>
          <p:cNvSpPr txBox="1"/>
          <p:nvPr/>
        </p:nvSpPr>
        <p:spPr>
          <a:xfrm xmlns:a="http://schemas.openxmlformats.org/drawingml/2006/main">
            <a:off x="720000" y="1440000"/>
            <a:ext cx="10440000" cy="108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4000" b="1">
                <a:solidFill>
                  <a:srgbClr val="38BDF8"/>
                </a:solidFill>
              </a:rPr>
              <a:t>GitHub Playwright Automation</a:t>
            </a:r>
          </a:p>
        </p:txBody>
      </p:sp>
      <p:sp>
        <p:nvSpPr>
          <p:cNvPr id="100001" name="DeckSubtitle"/>
          <p:cNvSpPr txBox="1"/>
          <p:nvPr/>
        </p:nvSpPr>
        <p:spPr>
          <a:xfrm xmlns:a="http://schemas.openxmlformats.org/drawingml/2006/main">
            <a:off x="720000" y="2880000"/>
            <a:ext cx="10440000" cy="90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2200">
                <a:solidFill>
                  <a:srgbClr val="94A3B8"/>
                </a:solidFill>
              </a:rPr>
              <a:t>Team Task Assignments &amp; Module Ownership Architecture</a:t>
            </a:r>
          </a:p>
          <a:p xmlns:a="http://schemas.openxmlformats.org/drawingml/2006/main">
            <a:r>
              <a:rPr lang="en-US" sz="2200">
                <a:solidFill>
                  <a:srgbClr val="94A3B8"/>
                </a:solidFill>
              </a:rPr>
              <a:t>Framework: Playwright JavaScript (Node.js)</a:t>
            </a:r>
          </a:p>
        </p:txBody>
      </p:sp>
    </p:spTree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0F172A"/>
        </a:solidFill>
      </p:bgPr>
    </p:bg>
    <p:spTree>
      <p:nvGrpSpPr>
        <p:cNvPr id="1" name=""/>
        <p:cNvGrpSpPr/>
        <p:nvPr/>
      </p:nvGrpSpPr>
      <p:grpSpPr/>
      <p:sp>
        <p:nvSpPr>
          <p:cNvPr id="100002" name="Slide2Title"/>
          <p:cNvSpPr txBox="1"/>
          <p:nvPr/>
        </p:nvSpPr>
        <p:spPr>
          <a:xfrm xmlns:a="http://schemas.openxmlformats.org/drawingml/2006/main">
            <a:off x="720000" y="540000"/>
            <a:ext cx="10440000" cy="72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3200" b="1">
                <a:solidFill>
                  <a:srgbClr val="38BDF8"/>
                </a:solidFill>
              </a:rPr>
              <a:t>Framework Overview &amp; Tech Stack</a:t>
            </a:r>
          </a:p>
        </p:txBody>
      </p:sp>
      <p:sp>
        <p:nvSpPr>
          <p:cNvPr id="100003" name="Slide2Body"/>
          <p:cNvSpPr txBox="1"/>
          <p:nvPr/>
        </p:nvSpPr>
        <p:spPr>
          <a:xfrm xmlns:a="http://schemas.openxmlformats.org/drawingml/2006/main">
            <a:off x="720000" y="1620000"/>
            <a:ext cx="10440000" cy="396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2000">
                <a:solidFill>
                  <a:srgbClr val="F8FAFC"/>
                </a:solidFill>
              </a:rPr>
              <a:t>• Design Pattern: Page Object Model (POM)</a:t>
            </a:r>
          </a:p>
          <a:p xmlns:a="http://schemas.openxmlformats.org/drawingml/2006/main">
            <a:r>
              <a:rPr lang="en-US" sz="2000">
                <a:solidFill>
                  <a:srgbClr val="F8FAFC"/>
                </a:solidFill>
              </a:rPr>
              <a:t>• Runner: @playwright/test with cross-browser execution (Chromium, Firefox, WebKit)</a:t>
            </a:r>
          </a:p>
          <a:p xmlns:a="http://schemas.openxmlformats.org/drawingml/2006/main">
            <a:r>
              <a:rPr lang="en-US" sz="2000">
                <a:solidFill>
                  <a:srgbClr val="F8FAFC"/>
                </a:solidFill>
              </a:rPr>
              <a:t>• Test Data Generation: @faker-js/faker &amp; Excel integration (xlsx)</a:t>
            </a:r>
          </a:p>
          <a:p xmlns:a="http://schemas.openxmlformats.org/drawingml/2006/main">
            <a:r>
              <a:rPr lang="en-US" sz="2000">
                <a:solidFill>
                  <a:srgbClr val="F8FAFC"/>
                </a:solidFill>
              </a:rPr>
              <a:t>• Configuration &amp; Secrets: dotenv environment variables</a:t>
            </a:r>
          </a:p>
          <a:p xmlns:a="http://schemas.openxmlformats.org/drawingml/2006/main">
            <a:r>
              <a:rPr lang="en-US" sz="2000">
                <a:solidFill>
                  <a:srgbClr val="F8FAFC"/>
                </a:solidFill>
              </a:rPr>
              <a:t>• CI/CD: Automated GitHub Actions pipeline (.github/workflows/playwright-ci.yml)</a:t>
            </a:r>
          </a:p>
        </p:txBody>
      </p:sp>
    </p:spTree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0F172A"/>
        </a:solidFill>
      </p:bgPr>
    </p:bg>
    <p:spTree>
      <p:nvGrpSpPr>
        <p:cNvPr id="1" name=""/>
        <p:cNvGrpSpPr/>
        <p:nvPr/>
      </p:nvGrpSpPr>
      <p:grpSpPr/>
      <p:sp>
        <p:nvSpPr>
          <p:cNvPr id="100004" name="Slide3Title"/>
          <p:cNvSpPr txBox="1"/>
          <p:nvPr/>
        </p:nvSpPr>
        <p:spPr>
          <a:xfrm xmlns:a="http://schemas.openxmlformats.org/drawingml/2006/main">
            <a:off x="720000" y="540000"/>
            <a:ext cx="10440000" cy="72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3200" b="1">
                <a:solidFill>
                  <a:srgbClr val="38BDF8"/>
                </a:solidFill>
              </a:rPr>
              <a:t>Lead &amp; Core Infrastructure</a:t>
            </a:r>
          </a:p>
        </p:txBody>
      </p:sp>
      <p:sp>
        <p:nvSpPr>
          <p:cNvPr id="100005" name="Slide3Body"/>
          <p:cNvSpPr txBox="1"/>
          <p:nvPr/>
        </p:nvSpPr>
        <p:spPr>
          <a:xfrm xmlns:a="http://schemas.openxmlformats.org/drawingml/2006/main">
            <a:off x="720000" y="1512000"/>
            <a:ext cx="10440000" cy="432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900">
                <a:solidFill>
                  <a:srgbClr val="F8FAFC"/>
                </a:solidFill>
              </a:rPr>
              <a:t>1. Deva Vignan (Framework Lead)</a:t>
            </a:r>
          </a:p>
          <a:p xmlns:a="http://schemas.openxmlformats.org/drawingml/2006/main">
            <a:r>
              <a:rPr lang="en-US" sz="1900">
                <a:solidFill>
                  <a:srgbClr val="F8FAFC"/>
                </a:solidFill>
              </a:rPr>
              <a:t>   - Core Architecture &amp; Foundation (pages/BasePage.js, pages/index.js, utils/index.js)</a:t>
            </a:r>
          </a:p>
          <a:p xmlns:a="http://schemas.openxmlformats.org/drawingml/2006/main">
            <a:r>
              <a:rPr lang="en-US" sz="1900">
                <a:solidFill>
                  <a:srgbClr val="F8FAFC"/>
                </a:solidFill>
              </a:rPr>
              <a:t>   - Node.js &amp; Playwright configuration (package.json, playwright.config.js, README.md)</a:t>
            </a:r>
          </a:p>
          <a:p xmlns:a="http://schemas.openxmlformats.org/drawingml/2006/main">
            <a:r>
              <a:rPr lang="en-US" sz="1900">
                <a:solidFill>
                  <a:srgbClr val="F8FAFC"/>
                </a:solidFill>
              </a:rPr>
              <a:t/>
            </a:r>
          </a:p>
          <a:p xmlns:a="http://schemas.openxmlformats.org/drawingml/2006/main">
            <a:r>
              <a:rPr lang="en-US" sz="1900">
                <a:solidFill>
                  <a:srgbClr val="F8FAFC"/>
                </a:solidFill>
              </a:rPr>
              <a:t>2. Nitin K M (CI/CD &amp; Execution)</a:t>
            </a:r>
          </a:p>
          <a:p xmlns:a="http://schemas.openxmlformats.org/drawingml/2006/main">
            <a:r>
              <a:rPr lang="en-US" sz="1900">
                <a:solidFill>
                  <a:srgbClr val="F8FAFC"/>
                </a:solidFill>
              </a:rPr>
              <a:t>   - GitHub Actions automated pipeline (.github/workflows/playwright-ci.yml)</a:t>
            </a:r>
          </a:p>
          <a:p xmlns:a="http://schemas.openxmlformats.org/drawingml/2006/main">
            <a:r>
              <a:rPr lang="en-US" sz="1900">
                <a:solidFill>
                  <a:srgbClr val="F8FAFC"/>
                </a:solidFill>
              </a:rPr>
              <a:t>   - Playwright runner integration and multi-browser execution</a:t>
            </a:r>
          </a:p>
        </p:txBody>
      </p:sp>
    </p:spTree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0F172A"/>
        </a:solidFill>
      </p:bgPr>
    </p:bg>
    <p:spTree>
      <p:nvGrpSpPr>
        <p:cNvPr id="1" name=""/>
        <p:cNvGrpSpPr/>
        <p:nvPr/>
      </p:nvGrpSpPr>
      <p:grpSpPr/>
      <p:sp>
        <p:nvSpPr>
          <p:cNvPr id="100006" name="Slide4Title"/>
          <p:cNvSpPr txBox="1"/>
          <p:nvPr/>
        </p:nvSpPr>
        <p:spPr>
          <a:xfrm xmlns:a="http://schemas.openxmlformats.org/drawingml/2006/main">
            <a:off x="720000" y="540000"/>
            <a:ext cx="10440000" cy="72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3200" b="1">
                <a:solidFill>
                  <a:srgbClr val="38BDF8"/>
                </a:solidFill>
              </a:rPr>
              <a:t>Authentication &amp; Repository Management</a:t>
            </a:r>
          </a:p>
        </p:txBody>
      </p:sp>
      <p:sp>
        <p:nvSpPr>
          <p:cNvPr id="100007" name="Slide4Body"/>
          <p:cNvSpPr txBox="1"/>
          <p:nvPr/>
        </p:nvSpPr>
        <p:spPr>
          <a:xfrm xmlns:a="http://schemas.openxmlformats.org/drawingml/2006/main">
            <a:off x="720000" y="1512000"/>
            <a:ext cx="10440000" cy="432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900">
                <a:solidFill>
                  <a:srgbClr val="F8FAFC"/>
                </a:solidFill>
              </a:rPr>
              <a:t>3. Jothi Sri (Authentication &amp; Profile)</a:t>
            </a:r>
          </a:p>
          <a:p xmlns:a="http://schemas.openxmlformats.org/drawingml/2006/main">
            <a:r>
              <a:rPr lang="en-US" sz="1900">
                <a:solidFill>
                  <a:srgbClr val="F8FAFC"/>
                </a:solidFill>
              </a:rPr>
              <a:t>   - Page Objects: pages/LoginPage.js, pages/ProfilePage.js</a:t>
            </a:r>
          </a:p>
          <a:p xmlns:a="http://schemas.openxmlformats.org/drawingml/2006/main">
            <a:r>
              <a:rPr lang="en-US" sz="1900">
                <a:solidFill>
                  <a:srgbClr val="F8FAFC"/>
                </a:solidFill>
              </a:rPr>
              <a:t>   - Test Suite: tests/login.spec.js (Login validation, invalid credentials, profile overview)</a:t>
            </a:r>
          </a:p>
          <a:p xmlns:a="http://schemas.openxmlformats.org/drawingml/2006/main">
            <a:r>
              <a:rPr lang="en-US" sz="1900">
                <a:solidFill>
                  <a:srgbClr val="F8FAFC"/>
                </a:solidFill>
              </a:rPr>
              <a:t/>
            </a:r>
          </a:p>
          <a:p xmlns:a="http://schemas.openxmlformats.org/drawingml/2006/main">
            <a:r>
              <a:rPr lang="en-US" sz="1900">
                <a:solidFill>
                  <a:srgbClr val="F8FAFC"/>
                </a:solidFill>
              </a:rPr>
              <a:t>4. Sujin (Repository Management)</a:t>
            </a:r>
          </a:p>
          <a:p xmlns:a="http://schemas.openxmlformats.org/drawingml/2006/main">
            <a:r>
              <a:rPr lang="en-US" sz="1900">
                <a:solidFill>
                  <a:srgbClr val="F8FAFC"/>
                </a:solidFill>
              </a:rPr>
              <a:t>   - Page Objects: pages/NewRepoPage.js, pages/RepoHomePage.js</a:t>
            </a:r>
          </a:p>
          <a:p xmlns:a="http://schemas.openxmlformats.org/drawingml/2006/main">
            <a:r>
              <a:rPr lang="en-US" sz="1900">
                <a:solidFill>
                  <a:srgbClr val="F8FAFC"/>
                </a:solidFill>
              </a:rPr>
              <a:t>   - Test Suite: tests/repository.spec.js (Repository creation, visibility, and tab navigation)</a:t>
            </a:r>
          </a:p>
        </p:txBody>
      </p:sp>
    </p:spTree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0F172A"/>
        </a:solidFill>
      </p:bgPr>
    </p:bg>
    <p:spTree>
      <p:nvGrpSpPr>
        <p:cNvPr id="1" name=""/>
        <p:cNvGrpSpPr/>
        <p:nvPr/>
      </p:nvGrpSpPr>
      <p:grpSpPr/>
      <p:sp>
        <p:nvSpPr>
          <p:cNvPr id="100008" name="Slide5Title"/>
          <p:cNvSpPr txBox="1"/>
          <p:nvPr/>
        </p:nvSpPr>
        <p:spPr>
          <a:xfrm xmlns:a="http://schemas.openxmlformats.org/drawingml/2006/main">
            <a:off x="720000" y="540000"/>
            <a:ext cx="10440000" cy="72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3200" b="1">
                <a:solidFill>
                  <a:srgbClr val="38BDF8"/>
                </a:solidFill>
              </a:rPr>
              <a:t>Issues, Pull Requests &amp; Search</a:t>
            </a:r>
          </a:p>
        </p:txBody>
      </p:sp>
      <p:sp>
        <p:nvSpPr>
          <p:cNvPr id="100009" name="Slide5Body"/>
          <p:cNvSpPr txBox="1"/>
          <p:nvPr/>
        </p:nvSpPr>
        <p:spPr>
          <a:xfrm xmlns:a="http://schemas.openxmlformats.org/drawingml/2006/main">
            <a:off x="720000" y="1512000"/>
            <a:ext cx="10440000" cy="432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900">
                <a:solidFill>
                  <a:srgbClr val="F8FAFC"/>
                </a:solidFill>
              </a:rPr>
              <a:t>5. Nitheesh (Issues &amp; Pull Requests)</a:t>
            </a:r>
          </a:p>
          <a:p xmlns:a="http://schemas.openxmlformats.org/drawingml/2006/main">
            <a:r>
              <a:rPr lang="en-US" sz="1900">
                <a:solidFill>
                  <a:srgbClr val="F8FAFC"/>
                </a:solidFill>
              </a:rPr>
              <a:t>   - Page Objects: pages/IssuePage.js, pages/PullRequestPage.js</a:t>
            </a:r>
          </a:p>
          <a:p xmlns:a="http://schemas.openxmlformats.org/drawingml/2006/main">
            <a:r>
              <a:rPr lang="en-US" sz="1900">
                <a:solidFill>
                  <a:srgbClr val="F8FAFC"/>
                </a:solidFill>
              </a:rPr>
              <a:t>   - Test Suites: tests/issue.spec.js, tests/pullrequest.spec.js</a:t>
            </a:r>
          </a:p>
          <a:p xmlns:a="http://schemas.openxmlformats.org/drawingml/2006/main">
            <a:r>
              <a:rPr lang="en-US" sz="1900">
                <a:solidFill>
                  <a:srgbClr val="F8FAFC"/>
                </a:solidFill>
              </a:rPr>
              <a:t/>
            </a:r>
          </a:p>
          <a:p xmlns:a="http://schemas.openxmlformats.org/drawingml/2006/main">
            <a:r>
              <a:rPr lang="en-US" sz="1900">
                <a:solidFill>
                  <a:srgbClr val="F8FAFC"/>
                </a:solidFill>
              </a:rPr>
              <a:t>6. Yazeen (Search &amp; Explore)</a:t>
            </a:r>
          </a:p>
          <a:p xmlns:a="http://schemas.openxmlformats.org/drawingml/2006/main">
            <a:r>
              <a:rPr lang="en-US" sz="1900">
                <a:solidFill>
                  <a:srgbClr val="F8FAFC"/>
                </a:solidFill>
              </a:rPr>
              <a:t>   - Page Objects: pages/SearchPage.js, pages/ExplorePage.js</a:t>
            </a:r>
          </a:p>
          <a:p xmlns:a="http://schemas.openxmlformats.org/drawingml/2006/main">
            <a:r>
              <a:rPr lang="en-US" sz="1900">
                <a:solidFill>
                  <a:srgbClr val="F8FAFC"/>
                </a:solidFill>
              </a:rPr>
              <a:t>   - Test Suite: tests/search.spec.js (GitHub repository search, topics, and trending explore)</a:t>
            </a:r>
          </a:p>
        </p:txBody>
      </p:sp>
    </p:spTree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0F172A"/>
        </a:solidFill>
      </p:bgPr>
    </p:bg>
    <p:spTree>
      <p:nvGrpSpPr>
        <p:cNvPr id="1" name=""/>
        <p:cNvGrpSpPr/>
        <p:nvPr/>
      </p:nvGrpSpPr>
      <p:grpSpPr/>
      <p:sp>
        <p:nvSpPr>
          <p:cNvPr id="100010" name="Slide6Title"/>
          <p:cNvSpPr txBox="1"/>
          <p:nvPr/>
        </p:nvSpPr>
        <p:spPr>
          <a:xfrm xmlns:a="http://schemas.openxmlformats.org/drawingml/2006/main">
            <a:off x="720000" y="540000"/>
            <a:ext cx="10440000" cy="72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3200" b="1">
                <a:solidFill>
                  <a:srgbClr val="38BDF8"/>
                </a:solidFill>
              </a:rPr>
              <a:t>Gists, Code Viewer &amp; Utilities</a:t>
            </a:r>
          </a:p>
        </p:txBody>
      </p:sp>
      <p:sp>
        <p:nvSpPr>
          <p:cNvPr id="100011" name="Slide6Body"/>
          <p:cNvSpPr txBox="1"/>
          <p:nvPr/>
        </p:nvSpPr>
        <p:spPr>
          <a:xfrm xmlns:a="http://schemas.openxmlformats.org/drawingml/2006/main">
            <a:off x="720000" y="1512000"/>
            <a:ext cx="10440000" cy="432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1800">
                <a:solidFill>
                  <a:srgbClr val="F8FAFC"/>
                </a:solidFill>
              </a:rPr>
              <a:t>7. Naveen (Gists Automation)</a:t>
            </a:r>
          </a:p>
          <a:p xmlns:a="http://schemas.openxmlformats.org/drawingml/2006/main">
            <a:r>
              <a:rPr lang="en-US" sz="1800">
                <a:solidFill>
                  <a:srgbClr val="F8FAFC"/>
                </a:solidFill>
              </a:rPr>
              <a:t>   - Page Objects: pages/GistCreatePage.js, pages/GistViewPage.js | Test: tests/gist.spec.js</a:t>
            </a:r>
          </a:p>
          <a:p xmlns:a="http://schemas.openxmlformats.org/drawingml/2006/main">
            <a:r>
              <a:rPr lang="en-US" sz="1800">
                <a:solidFill>
                  <a:srgbClr val="F8FAFC"/>
                </a:solidFill>
              </a:rPr>
              <a:t/>
            </a:r>
          </a:p>
          <a:p xmlns:a="http://schemas.openxmlformats.org/drawingml/2006/main">
            <a:r>
              <a:rPr lang="en-US" sz="1800">
                <a:solidFill>
                  <a:srgbClr val="F8FAFC"/>
                </a:solidFill>
              </a:rPr>
              <a:t>8. Neil Joe (Code Viewer, Files &amp; Commits)</a:t>
            </a:r>
          </a:p>
          <a:p xmlns:a="http://schemas.openxmlformats.org/drawingml/2006/main">
            <a:r>
              <a:rPr lang="en-US" sz="1800">
                <a:solidFill>
                  <a:srgbClr val="F8FAFC"/>
                </a:solidFill>
              </a:rPr>
              <a:t>   - Page Objects: pages/CodeBrowserPage.js, pages/FileViewPage.js, pages/CommitHistoryPage.js | Test: tests/codeviewer.spec.js</a:t>
            </a:r>
          </a:p>
          <a:p xmlns:a="http://schemas.openxmlformats.org/drawingml/2006/main">
            <a:r>
              <a:rPr lang="en-US" sz="1800">
                <a:solidFill>
                  <a:srgbClr val="F8FAFC"/>
                </a:solidFill>
              </a:rPr>
              <a:t/>
            </a:r>
          </a:p>
          <a:p xmlns:a="http://schemas.openxmlformats.org/drawingml/2006/main">
            <a:r>
              <a:rPr lang="en-US" sz="1800">
                <a:solidFill>
                  <a:srgbClr val="F8FAFC"/>
                </a:solidFill>
              </a:rPr>
              <a:t>9. Arsath (Config &amp; Test Data Utilities)</a:t>
            </a:r>
          </a:p>
          <a:p xmlns:a="http://schemas.openxmlformats.org/drawingml/2006/main">
            <a:r>
              <a:rPr lang="en-US" sz="1800">
                <a:solidFill>
                  <a:srgbClr val="F8FAFC"/>
                </a:solidFill>
              </a:rPr>
              <a:t>   - utils/ConfigReader.js, utils/ExcelUtils.js, utils/FakerDataFactory.js, utils/WaitUtils.js, .env.example</a:t>
            </a:r>
          </a:p>
          <a:p xmlns:a="http://schemas.openxmlformats.org/drawingml/2006/main">
            <a:r>
              <a:rPr lang="en-US" sz="1800">
                <a:solidFill>
                  <a:srgbClr val="F8FAFC"/>
                </a:solidFill>
              </a:rPr>
              <a:t/>
            </a:r>
          </a:p>
          <a:p xmlns:a="http://schemas.openxmlformats.org/drawingml/2006/main">
            <a:r>
              <a:rPr lang="en-US" sz="1800">
                <a:solidFill>
                  <a:srgbClr val="F8FAFC"/>
                </a:solidFill>
              </a:rPr>
              <a:t>10. Sulthan (Reporting &amp; Screenshots)</a:t>
            </a:r>
          </a:p>
          <a:p xmlns:a="http://schemas.openxmlformats.org/drawingml/2006/main">
            <a:r>
              <a:rPr lang="en-US" sz="1800">
                <a:solidFill>
                  <a:srgbClr val="F8FAFC"/>
                </a:solidFill>
              </a:rPr>
              <a:t>   - utils/ScreenshotUtils.js &amp; Playwright HTML artifact capture</a:t>
            </a:r>
          </a:p>
        </p:txBody>
      </p:sp>
    </p:spTree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0F172A"/>
        </a:solidFill>
      </p:bgPr>
    </p:bg>
    <p:spTree>
      <p:nvGrpSpPr>
        <p:cNvPr id="1" name=""/>
        <p:cNvGrpSpPr/>
        <p:nvPr/>
      </p:nvGrpSpPr>
      <p:grpSpPr/>
      <p:sp>
        <p:nvSpPr>
          <p:cNvPr id="100012" name="Slide7Title"/>
          <p:cNvSpPr txBox="1"/>
          <p:nvPr/>
        </p:nvSpPr>
        <p:spPr>
          <a:xfrm xmlns:a="http://schemas.openxmlformats.org/drawingml/2006/main">
            <a:off x="720000" y="540000"/>
            <a:ext cx="10440000" cy="72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3200" b="1">
                <a:solidFill>
                  <a:srgbClr val="38BDF8"/>
                </a:solidFill>
              </a:rPr>
              <a:t>Team Workflow &amp; Guidelines</a:t>
            </a:r>
          </a:p>
        </p:txBody>
      </p:sp>
      <p:sp>
        <p:nvSpPr>
          <p:cNvPr id="100013" name="Slide7Body"/>
          <p:cNvSpPr txBox="1"/>
          <p:nvPr/>
        </p:nvSpPr>
        <p:spPr>
          <a:xfrm xmlns:a="http://schemas.openxmlformats.org/drawingml/2006/main">
            <a:off x="720000" y="1620000"/>
            <a:ext cx="10440000" cy="3960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 sz="2000">
                <a:solidFill>
                  <a:srgbClr val="F8FAFC"/>
                </a:solidFill>
              </a:rPr>
              <a:t>• Branching Model: Create dedicated feature branches (e.g. feature/login-page)</a:t>
            </a:r>
          </a:p>
          <a:p xmlns:a="http://schemas.openxmlformats.org/drawingml/2006/main">
            <a:r>
              <a:rPr lang="en-US" sz="2000">
                <a:solidFill>
                  <a:srgbClr val="F8FAFC"/>
                </a:solidFill>
              </a:rPr>
              <a:t>• Dependency Setup: Run 'npm install' and 'npx playwright install'</a:t>
            </a:r>
          </a:p>
          <a:p xmlns:a="http://schemas.openxmlformats.org/drawingml/2006/main">
            <a:r>
              <a:rPr lang="en-US" sz="2000">
                <a:solidFill>
                  <a:srgbClr val="F8FAFC"/>
                </a:solidFill>
              </a:rPr>
              <a:t>• Local Execution: Run 'npx playwright test tests/&lt;your-spec&gt;' before creating a PR</a:t>
            </a:r>
          </a:p>
          <a:p xmlns:a="http://schemas.openxmlformats.org/drawingml/2006/main">
            <a:r>
              <a:rPr lang="en-US" sz="2000">
                <a:solidFill>
                  <a:srgbClr val="F8FAFC"/>
                </a:solidFill>
              </a:rPr>
              <a:t>• Pull Requests: Open PRs for review and CI validation by the Framework Lead (Deva Vignan)</a:t>
            </a:r>
          </a:p>
          <a:p xmlns:a="http://schemas.openxmlformats.org/drawingml/2006/main">
            <a:r>
              <a:rPr lang="en-US" sz="2000">
                <a:solidFill>
                  <a:srgbClr val="F8FAFC"/>
                </a:solidFill>
              </a:rPr>
              <a:t>• Code Quality: Reuse methods from BasePage and shared utilities in utils/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>
          <a:solidFill>
            <a:schemeClr val="phClr"/>
          </a:solidFill>
        </a:ln>
        <a:ln w="12700" cap="flat">
          <a:solidFill>
            <a:schemeClr val="phClr"/>
          </a:solidFill>
        </a:ln>
        <a:ln w="19050" cap="flat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ap:Properties xmlns:ap="http://schemas.openxmlformats.org/officeDocument/2006/extended-properties">
  <ap:Application>OfficeCLI/1.0.144</ap:Application>
</ap: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creator>OfficeCLI</dc:creator>
  <dcterms:created xsi:type="dcterms:W3CDTF">2026-09-17T10:10:12Z</dcterms:created>
  <cp:lastModifiedBy>OfficeCLI</cp:lastModifiedBy>
  <dcterms:modified xsi:type="dcterms:W3CDTF">2026-09-17T10:10:12Z</dcterms:modified>
</cp:coreProperties>
</file>

<file path=docProps/custom.xml><?xml version="1.0" encoding="utf-8"?>
<op:Properties xmlns:op="http://schemas.openxmlformats.org/officeDocument/2006/custom-properties">
  <op:property fmtid="{D5CDD505-2E9C-101B-9397-08002B2CF9AE}" pid="2" name="OfficeCLI.Version">
    <vt:lpwstr xmlns:vt="http://schemas.openxmlformats.org/officeDocument/2006/docPropsVTypes">1.0.144</vt:lpwstr>
  </op:property>
  <op:property fmtid="{D5CDD505-2E9C-101B-9397-08002B2CF9AE}" pid="3" name="OfficeCLI.LastModified">
    <vt:lpwstr xmlns:vt="http://schemas.openxmlformats.org/officeDocument/2006/docPropsVTypes">2026-09-17T10:10:13Z</vt:lpwstr>
  </op:property>
</op:Properties>
</file>